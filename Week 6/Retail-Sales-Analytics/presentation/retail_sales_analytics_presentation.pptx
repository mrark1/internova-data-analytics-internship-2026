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Retail Sales &amp; Business Performance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Project demonstration — dataset is synthetic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Week 6 Final Data Analytics Capstone</a:t>
            </a:r>
          </a:p>
          <a:p>
            <a:pPr>
              <a:spcAft>
                <a:spcPts val="1500"/>
              </a:spcAft>
              <a:defRPr sz="2000"/>
            </a:pPr>
            <a:r>
              <a:t>Python • Pandas • EDA • Visualizations • Power BI •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Retail teams need a consistent view of sales, profit, order volume, product mix, and regional demand.</a:t>
            </a:r>
          </a:p>
          <a:p>
            <a:pPr>
              <a:spcAft>
                <a:spcPts val="1500"/>
              </a:spcAft>
              <a:defRPr sz="2000"/>
            </a:pPr>
            <a:r>
              <a:t>Goal: clean transaction data, find patterns, and communicate actionable insights.</a:t>
            </a:r>
          </a:p>
          <a:p>
            <a:pPr>
              <a:spcAft>
                <a:spcPts val="1500"/>
              </a:spcAft>
              <a:defRPr sz="2000"/>
            </a:pPr>
            <a:r>
              <a:t>Deliverable: reproducible analysis plus a Power BI dashboard implementation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Dataset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Raw records: 1,203; cleaned records: 1,190.</a:t>
            </a:r>
          </a:p>
          <a:p>
            <a:pPr>
              <a:spcAft>
                <a:spcPts val="1500"/>
              </a:spcAft>
              <a:defRPr sz="2000"/>
            </a:pPr>
            <a:r>
              <a:t>Fields include order date, region, category, product, quantity, price, discount, sales, profit, segment, and payment method.</a:t>
            </a:r>
          </a:p>
          <a:p>
            <a:pPr>
              <a:spcAft>
                <a:spcPts val="1500"/>
              </a:spcAft>
              <a:defRPr sz="2000"/>
            </a:pPr>
            <a:r>
              <a:t>Tools: Python, Pandas, NumPy, Matplotlib, Seaborn, Jupyter, Power BI Desktop, Git, GitHub.</a:t>
            </a:r>
          </a:p>
          <a:p>
            <a:pPr>
              <a:spcAft>
                <a:spcPts val="1500"/>
              </a:spcAft>
              <a:defRPr sz="2000"/>
            </a:pPr>
            <a:r>
              <a:t>Important: dataset is synthetic for demonstration, not real business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Inspected schema, data types, missing values, and duplicates.</a:t>
            </a:r>
          </a:p>
          <a:p>
            <a:pPr>
              <a:spcAft>
                <a:spcPts val="1500"/>
              </a:spcAft>
              <a:defRPr sz="2000"/>
            </a:pPr>
            <a:r>
              <a:t>Removed duplicate records and invalid quantity/discount/price rows.</a:t>
            </a:r>
          </a:p>
          <a:p>
            <a:pPr>
              <a:spcAft>
                <a:spcPts val="1500"/>
              </a:spcAft>
              <a:defRPr sz="2000"/>
            </a:pPr>
            <a:r>
              <a:t>Imputed categorical nulls with mode and missing unit prices with median.</a:t>
            </a:r>
          </a:p>
          <a:p>
            <a:pPr>
              <a:spcAft>
                <a:spcPts val="1500"/>
              </a:spcAft>
              <a:defRPr sz="2000"/>
            </a:pPr>
            <a:r>
              <a:t>Recomputed sales using price × quantity × (1 − discount); imputed missing profit using category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Generic currency units;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Total Sales: 480,580.26</a:t>
            </a:r>
          </a:p>
          <a:p>
            <a:pPr>
              <a:spcAft>
                <a:spcPts val="1500"/>
              </a:spcAft>
              <a:defRPr sz="2000"/>
            </a:pPr>
            <a:r>
              <a:t>Total Profit: 178,868.70</a:t>
            </a:r>
          </a:p>
          <a:p>
            <a:pPr>
              <a:spcAft>
                <a:spcPts val="1500"/>
              </a:spcAft>
              <a:defRPr sz="2000"/>
            </a:pPr>
            <a:r>
              <a:t>Distinct Orders: 1,190</a:t>
            </a:r>
          </a:p>
          <a:p>
            <a:pPr>
              <a:spcAft>
                <a:spcPts val="1500"/>
              </a:spcAft>
              <a:defRPr sz="2000"/>
            </a:pPr>
            <a:r>
              <a:t>Units Sold: 3,194</a:t>
            </a:r>
          </a:p>
          <a:p>
            <a:pPr>
              <a:spcAft>
                <a:spcPts val="1500"/>
              </a:spcAft>
              <a:defRPr sz="2000"/>
            </a:pPr>
            <a:r>
              <a:t>Aggregate Profit Margin: 37.22%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Visualization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Monthly sales trend — seasonality pattern in generated data.</a:t>
            </a:r>
          </a:p>
          <a:p>
            <a:pPr>
              <a:spcAft>
                <a:spcPts val="1500"/>
              </a:spcAft>
              <a:defRPr sz="2000"/>
            </a:pPr>
            <a:r>
              <a:t>Category and regional sales — compare mix and geography.</a:t>
            </a:r>
          </a:p>
          <a:p>
            <a:pPr>
              <a:spcAft>
                <a:spcPts val="1500"/>
              </a:spcAft>
              <a:defRPr sz="2000"/>
            </a:pPr>
            <a:r>
              <a:t>Top 10 products — identify sales concentration.</a:t>
            </a:r>
          </a:p>
          <a:p>
            <a:pPr>
              <a:spcAft>
                <a:spcPts val="1500"/>
              </a:spcAft>
              <a:defRPr sz="2000"/>
            </a:pPr>
            <a:r>
              <a:t>Sales vs profit scatter and correlation heatmap — explore relationships.</a:t>
            </a:r>
          </a:p>
          <a:p>
            <a:pPr>
              <a:spcAft>
                <a:spcPts val="1500"/>
              </a:spcAft>
              <a:defRPr sz="2000"/>
            </a:pPr>
            <a:r>
              <a:t>Customer segment sales — compare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Monthly Sales</a:t>
            </a:r>
          </a:p>
        </p:txBody>
      </p:sp>
      <p:pic>
        <p:nvPicPr>
          <p:cNvPr id="4" name="Picture 3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Category Sales</a:t>
            </a:r>
          </a:p>
        </p:txBody>
      </p:sp>
      <p:pic>
        <p:nvPicPr>
          <p:cNvPr id="4" name="Picture 3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Regional Sales</a:t>
            </a:r>
          </a:p>
        </p:txBody>
      </p:sp>
      <p:pic>
        <p:nvPicPr>
          <p:cNvPr id="4" name="Picture 3" descr="regional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241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Highest-sales category: Furniture.</a:t>
            </a:r>
          </a:p>
          <a:p>
            <a:pPr>
              <a:spcAft>
                <a:spcPts val="1500"/>
              </a:spcAft>
              <a:defRPr sz="2000"/>
            </a:pPr>
            <a:r>
              <a:t>Highest-sales region: North.</a:t>
            </a:r>
          </a:p>
          <a:p>
            <a:pPr>
              <a:spcAft>
                <a:spcPts val="1500"/>
              </a:spcAft>
              <a:defRPr sz="2000"/>
            </a:pPr>
            <a:r>
              <a:t>Highest-sales product: Desk.</a:t>
            </a:r>
          </a:p>
          <a:p>
            <a:pPr>
              <a:spcAft>
                <a:spcPts val="1500"/>
              </a:spcAft>
              <a:defRPr sz="2000"/>
            </a:pPr>
            <a:r>
              <a:t>Category margins differ: highest Office Supplies; lowest Technology.</a:t>
            </a:r>
          </a:p>
          <a:p>
            <a:pPr>
              <a:spcAft>
                <a:spcPts val="1500"/>
              </a:spcAft>
              <a:defRPr sz="2000"/>
            </a:pPr>
            <a:r>
              <a:t>Top sales month: 2024-01; lowest: 2024-12.</a:t>
            </a:r>
          </a:p>
          <a:p>
            <a:pPr>
              <a:spcAft>
                <a:spcPts val="1500"/>
              </a:spcAft>
              <a:defRPr sz="2000"/>
            </a:pPr>
            <a:r>
              <a:t>All results are illustrative because the dataset is synthetic.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Plan replenishment and campaigns using monthly/category/region trends, then validate with inventory and stockout data.</a:t>
            </a:r>
          </a:p>
          <a:p>
            <a:pPr>
              <a:spcAft>
                <a:spcPts val="1500"/>
              </a:spcAft>
              <a:defRPr sz="2000"/>
            </a:pPr>
            <a:r>
              <a:t>Track discounts with profit margin; optimize promotions for incremental profit rather than revenue alone.</a:t>
            </a:r>
          </a:p>
          <a:p>
            <a:pPr>
              <a:spcAft>
                <a:spcPts val="1500"/>
              </a:spcAft>
              <a:defRPr sz="2000"/>
            </a:pPr>
            <a:r>
              <a:t>Review product margin, returns, and holding costs before assortment decisions.</a:t>
            </a:r>
          </a:p>
          <a:p>
            <a:pPr>
              <a:spcAft>
                <a:spcPts val="1500"/>
              </a:spcAft>
              <a:defRPr sz="2000"/>
            </a:pPr>
            <a:r>
              <a:t>Normalize regional performance by stores, customers, and marketing spend when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Power BI Dashboard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KPI cards: Total Sales, Total Profit, Total Orders, Profit Margin %.</a:t>
            </a:r>
          </a:p>
          <a:p>
            <a:pPr>
              <a:spcAft>
                <a:spcPts val="1500"/>
              </a:spcAft>
              <a:defRPr sz="2000"/>
            </a:pPr>
            <a:r>
              <a:t>Charts: monthly sales line, category sales/profit, regional sales, top products, customer segment mix.</a:t>
            </a:r>
          </a:p>
          <a:p>
            <a:pPr>
              <a:spcAft>
                <a:spcPts val="1500"/>
              </a:spcAft>
              <a:defRPr sz="2000"/>
            </a:pPr>
            <a:r>
              <a:t>Slicers: date, region, category, customer segment, payment method.</a:t>
            </a:r>
          </a:p>
          <a:p>
            <a:pPr>
              <a:spcAft>
                <a:spcPts val="1500"/>
              </a:spcAft>
              <a:defRPr sz="2000"/>
            </a:pPr>
            <a:r>
              <a:t>DAX measures and build guide are included. Create the .pbix in Power BI Desktop; it is not precompiled in this package.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GitHub &amp; 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Create an empty GitHub repository and clone it.</a:t>
            </a:r>
          </a:p>
          <a:p>
            <a:pPr>
              <a:spcAft>
                <a:spcPts val="1500"/>
              </a:spcAft>
              <a:defRPr sz="2000"/>
            </a:pPr>
            <a:r>
              <a:t>Add the project files and make 3 meaningful commits.</a:t>
            </a:r>
          </a:p>
          <a:p>
            <a:pPr>
              <a:spcAft>
                <a:spcPts val="1500"/>
              </a:spcAft>
              <a:defRPr sz="2000"/>
            </a:pPr>
            <a:r>
              <a:t>Push and verify with git status and git log --oneline.</a:t>
            </a:r>
          </a:p>
          <a:p>
            <a:pPr>
              <a:spcAft>
                <a:spcPts val="1500"/>
              </a:spcAft>
              <a:defRPr sz="2000"/>
            </a:pPr>
            <a:r>
              <a:t>Before final submission: build the Power BI .pbix; if required, replace synthetic data with a cited real dataset and rerun all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/>
            </a:pPr>
            <a:r>
              <a:t>The package provides code, dataset, notebook, seven charts, report, presentation, README, DAX measures, and Git workflow instructions.</a:t>
            </a:r>
          </a:p>
          <a:p>
            <a:pPr>
              <a:spcAft>
                <a:spcPts val="1500"/>
              </a:spcAft>
              <a:defRPr sz="2000"/>
            </a:pPr>
            <a:r>
              <a:t>Limitations: synthetic data, generic currency, no compiled .pbix.</a:t>
            </a:r>
          </a:p>
          <a:p>
            <a:pPr>
              <a:spcAft>
                <a:spcPts val="1500"/>
              </a:spcAft>
              <a:defRPr sz="2000"/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